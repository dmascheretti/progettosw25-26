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Outfit" panose="020B0604020202020204" charset="0"/>
      <p:regular r:id="rId16"/>
      <p:bold r:id="rId17"/>
    </p:embeddedFont>
    <p:embeddedFont>
      <p:font typeface="Outfit SemiBold" panose="020B0604020202020204" charset="0"/>
      <p:regular r:id="rId18"/>
      <p:bold r:id="rId19"/>
    </p:embeddedFont>
    <p:embeddedFont>
      <p:font typeface="Space Grotes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3323d953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3323d953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6978384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6978384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5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75564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81000"/>
            <a:ext cx="36829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048125"/>
            <a:ext cx="11429851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" y="715186"/>
            <a:ext cx="34194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390525" y="2114550"/>
            <a:ext cx="753739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19125" y="1114235"/>
            <a:ext cx="7434300" cy="1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Charge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19125" y="2787552"/>
            <a:ext cx="5715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Piattaforma </a:t>
            </a:r>
            <a:r>
              <a:rPr lang="en-US" sz="18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moderna</a:t>
            </a: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per la gestione e prenotazione di colonnine di ricarica.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8137476" y="2114550"/>
            <a:ext cx="3663848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366075" y="619125"/>
            <a:ext cx="336698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A.A. 2025/2026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390545" y="5257800"/>
            <a:ext cx="1141075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366075" y="2295525"/>
            <a:ext cx="3206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19125" y="5033962"/>
            <a:ext cx="25884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Davide Mascheretti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19125" y="5291137"/>
            <a:ext cx="25884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PO &amp; Backend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407568" y="5033962"/>
            <a:ext cx="25884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Tommaso Maistrello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407568" y="5291137"/>
            <a:ext cx="25884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Scrum Master &amp; Frontend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196012" y="5033962"/>
            <a:ext cx="25884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3F5E"/>
                </a:solidFill>
                <a:latin typeface="Outfit"/>
                <a:ea typeface="Outfit"/>
                <a:cs typeface="Outfit"/>
                <a:sym typeface="Outfit"/>
              </a:rPr>
              <a:t>Francesco Valenari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196012" y="5291137"/>
            <a:ext cx="2588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Development Team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984456" y="5033962"/>
            <a:ext cx="25884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Claudio Morgera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984456" y="5291137"/>
            <a:ext cx="2588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Development Team </a:t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15059" y="270634"/>
            <a:ext cx="2708687" cy="403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46513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9525" y="1428750"/>
            <a:ext cx="4651325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381000" y="471487"/>
            <a:ext cx="266533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Visione e Obiettivi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390525" y="3948112"/>
            <a:ext cx="4632274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16668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19125" y="2428875"/>
            <a:ext cx="438382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IL PROBLEMA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19125" y="2981325"/>
            <a:ext cx="4175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Range Anxiety:</a:t>
            </a:r>
            <a:r>
              <a:rPr lang="en-US" sz="13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L'incertezza di non trovare u</a:t>
            </a:r>
            <a:r>
              <a:rPr lang="en-US" sz="135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 posto di</a:t>
            </a:r>
            <a:r>
              <a:rPr lang="en-US" sz="13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ricarica</a:t>
            </a:r>
            <a:r>
              <a:rPr lang="en-US" sz="135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libero.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19125" y="3781425"/>
            <a:ext cx="4175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Abusi:</a:t>
            </a:r>
            <a:r>
              <a:rPr lang="en-US" sz="1350" b="0" i="0" u="none" strike="noStrike" cap="non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Postazioni </a:t>
            </a:r>
            <a:r>
              <a:rPr lang="en-US" sz="13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occupat</a:t>
            </a:r>
            <a:r>
              <a:rPr lang="en-US" sz="135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</a:t>
            </a:r>
            <a:r>
              <a:rPr lang="en-US" sz="13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abusivamente senza diritto.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19125" y="4324350"/>
            <a:ext cx="41750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Assenza di dati storici.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351" y="3762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7169051" y="3948112"/>
            <a:ext cx="4632274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7650" y="16668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7397650" y="2428875"/>
            <a:ext cx="438382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LA SOLUZIONE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397650" y="2981325"/>
            <a:ext cx="41750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Deterministica: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Prenotazione atomica a slot rigidi (30m).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397650" y="3781425"/>
            <a:ext cx="41750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Fisica: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Accesso validato da QR Code Dinamico.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397650" y="4324350"/>
            <a:ext cx="4175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Controllo centralizzato della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colonnine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id="126" name="Google Shape;12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0575" y="18383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83388" y="183832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56197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428750"/>
            <a:ext cx="56197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048125"/>
            <a:ext cx="114300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381000" y="471487"/>
            <a:ext cx="33204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Difficoltà e Mitigazioni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90525" y="2638425"/>
            <a:ext cx="5600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19125" y="1666875"/>
            <a:ext cx="5400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TECNICHE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19125" y="2219325"/>
            <a:ext cx="5143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Concorrenza DB: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Gestione conflitti su Firebase (NoSQL Distribuito).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19125" y="2753549"/>
            <a:ext cx="5143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Vaadin e L</a:t>
            </a:r>
            <a:r>
              <a:rPr lang="en-US" sz="1350" b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eaflet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Curv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di apprendimento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200775" y="2638425"/>
            <a:ext cx="5600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6429375" y="1666875"/>
            <a:ext cx="5400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ORGANIZZATIVE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429375" y="2219325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Timing: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Sovrapposizione critica con sessioni d'esame.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429375" y="2762250"/>
            <a:ext cx="5143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Team: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Coordinamento sincrono.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90525" y="5257800"/>
            <a:ext cx="114109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619125" y="4286250"/>
            <a:ext cx="115014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STRATEGIA DI RISOLUZIONE</a:t>
            </a:r>
            <a:endParaRPr/>
          </a:p>
        </p:txBody>
      </p:sp>
      <p:pic>
        <p:nvPicPr>
          <p:cNvPr id="147" name="Google Shape;14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1695450"/>
            <a:ext cx="2095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1695450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" y="4314825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2771775" y="4900612"/>
            <a:ext cx="1905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953000" y="4900612"/>
            <a:ext cx="1905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619125" y="4762500"/>
            <a:ext cx="177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0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19125" y="5343525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SETUP RIGOROSO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171825" y="4862512"/>
            <a:ext cx="14001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Adaptive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3171825" y="5243512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PLANNING FLESSIBILE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353050" y="5024437"/>
            <a:ext cx="621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Adattamento della lunghezza degli sprint (10-20gg) in base al carico accademico esterno.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36829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428750"/>
            <a:ext cx="368304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428750"/>
            <a:ext cx="3682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54400" y="4048125"/>
            <a:ext cx="75564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" y="2047875"/>
            <a:ext cx="3159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" y="2333625"/>
            <a:ext cx="3159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9125" y="2619375"/>
            <a:ext cx="3159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92525" y="2943225"/>
            <a:ext cx="8667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35500" y="2943225"/>
            <a:ext cx="7524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92525" y="4667250"/>
            <a:ext cx="8763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559325" y="4667250"/>
            <a:ext cx="10382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8050" y="4667250"/>
            <a:ext cx="733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11975" y="4667250"/>
            <a:ext cx="885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788300" y="4667250"/>
            <a:ext cx="8572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381000" y="471487"/>
            <a:ext cx="337042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Paradigmi &amp; Tech Stack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390526" y="3948112"/>
            <a:ext cx="3663848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19125" y="1666875"/>
            <a:ext cx="336698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CORE LOGIC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19125" y="3234754"/>
            <a:ext cx="32067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Approccio MDA: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Dal modello (Papyrus) al codice.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19125" y="4099068"/>
            <a:ext cx="32067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Refactoring: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Reverse engineering per allineamento   finale.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4263925" y="2638425"/>
            <a:ext cx="3664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4492525" y="1666875"/>
            <a:ext cx="336713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FRONTEND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492525" y="2047875"/>
            <a:ext cx="320679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Vaadin 24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4492525" y="2533650"/>
            <a:ext cx="32067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Pure Java UI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8137476" y="2638425"/>
            <a:ext cx="3663848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8366075" y="1666875"/>
            <a:ext cx="336698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DATA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366075" y="2047875"/>
            <a:ext cx="3206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Firebase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366075" y="2533650"/>
            <a:ext cx="3206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Realtime NoSQL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4263926" y="5257800"/>
            <a:ext cx="7537399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4492525" y="4286250"/>
            <a:ext cx="743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TOOL UTILIZZATI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36829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428750"/>
            <a:ext cx="75565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4048125"/>
            <a:ext cx="75565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2581275"/>
            <a:ext cx="32066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048000"/>
            <a:ext cx="32066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514725"/>
            <a:ext cx="32066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92525" y="2047875"/>
            <a:ext cx="3444924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7950" y="2047875"/>
            <a:ext cx="344492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381000" y="471487"/>
            <a:ext cx="40705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Configuration Management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390526" y="3948112"/>
            <a:ext cx="3663848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263924" y="2638425"/>
            <a:ext cx="7537551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4492525" y="1666875"/>
            <a:ext cx="743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WORKFLOW </a:t>
            </a:r>
            <a:r>
              <a:rPr lang="en-US" sz="1500" b="1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IBRIDO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4263924" y="5257800"/>
            <a:ext cx="7537551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4492525" y="4286250"/>
            <a:ext cx="743436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PROJECT MANAGEMENT</a:t>
            </a:r>
            <a:endParaRPr/>
          </a:p>
        </p:txBody>
      </p:sp>
      <p:pic>
        <p:nvPicPr>
          <p:cNvPr id="210" name="Google Shape;21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" y="1666875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619125" y="2333625"/>
            <a:ext cx="3206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Commits: 250+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19125" y="2800350"/>
            <a:ext cx="3206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Issues: 35 Closed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19125" y="3267075"/>
            <a:ext cx="3206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Branches: 9 Active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5724838" y="4830245"/>
            <a:ext cx="24900" cy="75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1133475" y="1690687"/>
            <a:ext cx="942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GitHub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133475" y="1881187"/>
            <a:ext cx="9429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Private Repository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619125" y="2581275"/>
            <a:ext cx="2530500" cy="76200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619125" y="3048000"/>
            <a:ext cx="2141100" cy="76200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19125" y="3514725"/>
            <a:ext cx="1675500" cy="762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4644925" y="2200275"/>
            <a:ext cx="1931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Push diretto su main 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8280350" y="2200275"/>
            <a:ext cx="233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Utilizzo di branch secondari</a:t>
            </a:r>
            <a:endParaRPr/>
          </a:p>
        </p:txBody>
      </p:sp>
      <p:pic>
        <p:nvPicPr>
          <p:cNvPr id="222" name="Google Shape;22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59238" y="47742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4492525" y="5130229"/>
            <a:ext cx="96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Kanban Board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035575" y="4817081"/>
            <a:ext cx="55374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Gestione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issues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 labels (</a:t>
            </a:r>
            <a:r>
              <a:rPr lang="en-US" sz="135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enhancement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bug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).</a:t>
            </a:r>
            <a:endParaRPr sz="1350" b="0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Stati: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Todo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-&gt;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 Progress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-&gt;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Done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114300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000375"/>
            <a:ext cx="11430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4324350"/>
            <a:ext cx="17145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98825" y="4333875"/>
            <a:ext cx="17145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8525" y="4333875"/>
            <a:ext cx="17145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8226" y="4333875"/>
            <a:ext cx="17145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381000" y="471487"/>
            <a:ext cx="282535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Software Life Cycle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390525" y="2114550"/>
            <a:ext cx="114109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390525" y="4733925"/>
            <a:ext cx="114109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 rot="10800000" flipH="1">
            <a:off x="2333625" y="4763350"/>
            <a:ext cx="1382400" cy="5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619125" y="1757362"/>
            <a:ext cx="245030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MODELLO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19125" y="2138350"/>
            <a:ext cx="328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Agile Scrum </a:t>
            </a:r>
            <a:r>
              <a:rPr lang="en-US" sz="1800" b="1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(Flessibile)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9363075" y="1890712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Sprint flessibili: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10 - 20 giorni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9363075" y="2147887"/>
            <a:ext cx="22098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Adattamento al carico esami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1185862" y="4486275"/>
            <a:ext cx="581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Sprint 0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781050" y="4724400"/>
            <a:ext cx="13906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Inception &amp; Setup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781050" y="4867275"/>
            <a:ext cx="13906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15/10 - 02/11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4213175" y="4486275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Sprint 1-2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3851225" y="4724400"/>
            <a:ext cx="1409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Core &amp; Mappa</a:t>
            </a:r>
            <a:endParaRPr sz="900" b="0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02/11-19/11</a:t>
            </a:r>
            <a:endParaRPr sz="9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7273825" y="448627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Sprint 3-4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930925" y="4724400"/>
            <a:ext cx="1409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Logic</a:t>
            </a: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 </a:t>
            </a:r>
            <a:r>
              <a:rPr lang="en-US" sz="9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&amp; QR</a:t>
            </a:r>
            <a:endParaRPr sz="900" b="0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19/11-10/12</a:t>
            </a:r>
            <a:endParaRPr sz="9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10358288" y="4486275"/>
            <a:ext cx="714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Sprint 5-6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10010626" y="4724400"/>
            <a:ext cx="140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Funzionalità secondarie e </a:t>
            </a:r>
            <a:endParaRPr sz="9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consegna</a:t>
            </a:r>
            <a:endParaRPr sz="9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10/12-09/02</a:t>
            </a:r>
            <a:endParaRPr sz="90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18"/>
          <p:cNvSpPr/>
          <p:nvPr/>
        </p:nvSpPr>
        <p:spPr>
          <a:xfrm rot="10800000" flipH="1">
            <a:off x="5396091" y="4710488"/>
            <a:ext cx="1382400" cy="5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 rot="10800000" flipH="1">
            <a:off x="8484425" y="4710500"/>
            <a:ext cx="1382400" cy="5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4219" y="2547937"/>
            <a:ext cx="658356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4219" y="4024312"/>
            <a:ext cx="658356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04219" y="5500687"/>
            <a:ext cx="658356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381000" y="471487"/>
            <a:ext cx="32654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Architettura Software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81000" y="1852612"/>
            <a:ext cx="11430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1000" y="1752600"/>
            <a:ext cx="11430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Layered Architecture: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Massima separazione delle responsabilità.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81000" y="4471987"/>
            <a:ext cx="11430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051869" y="2795587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Presentation Layer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3051869" y="3033712"/>
            <a:ext cx="60882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Vaadin Views (UI)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9473505" y="2795587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Browser Client</a:t>
            </a:r>
            <a:endParaRPr/>
          </a:p>
        </p:txBody>
      </p:sp>
      <p:pic>
        <p:nvPicPr>
          <p:cNvPr id="275" name="Google Shape;27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8850" y="366236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3051869" y="4271962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Business Logic Layer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3051869" y="4510087"/>
            <a:ext cx="6088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Services &amp; Valida</a:t>
            </a:r>
            <a:r>
              <a:rPr lang="en-US" sz="105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zione</a:t>
            </a:r>
            <a:endParaRPr/>
          </a:p>
        </p:txBody>
      </p:sp>
      <p:pic>
        <p:nvPicPr>
          <p:cNvPr id="278" name="Google Shape;2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8850" y="513873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3051869" y="5748337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Access Layer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3051869" y="5986462"/>
            <a:ext cx="60882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Repositories (Interface)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9473505" y="5748337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Firebase Cloud</a:t>
            </a:r>
            <a:endParaRPr/>
          </a:p>
        </p:txBody>
      </p:sp>
      <p:pic>
        <p:nvPicPr>
          <p:cNvPr id="282" name="Google Shape;28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73505" y="28146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73505" y="5767387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2714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6125" y="1428750"/>
            <a:ext cx="852487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2047875"/>
            <a:ext cx="223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2857500"/>
            <a:ext cx="223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667125"/>
            <a:ext cx="22383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24250" y="2047875"/>
            <a:ext cx="1869281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84031" y="2047875"/>
            <a:ext cx="1869281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43812" y="2047875"/>
            <a:ext cx="1869281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03593" y="2047875"/>
            <a:ext cx="1869281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24250" y="4453235"/>
            <a:ext cx="1009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43812" y="4453235"/>
            <a:ext cx="742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24250" y="4234160"/>
            <a:ext cx="3929062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43812" y="4234160"/>
            <a:ext cx="3929062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381000" y="471487"/>
            <a:ext cx="411051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Design &amp; Metriche di Qualità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390525" y="3948112"/>
            <a:ext cx="26955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19125" y="1666875"/>
            <a:ext cx="23502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PATTERNS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3295650" y="3948112"/>
            <a:ext cx="85058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524250" y="1666875"/>
            <a:ext cx="84510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METRICHE DEL CODICE (AGG. 01/02/2026)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762000" y="219075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Singleton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2000" y="2381250"/>
            <a:ext cx="1952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Spring </a:t>
            </a:r>
            <a:r>
              <a:rPr lang="en-US" sz="9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@Service e @Repository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762000" y="3000375"/>
            <a:ext cx="619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Adapter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62000" y="3190875"/>
            <a:ext cx="1952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Database interface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762000" y="38100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Observer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762000" y="4000500"/>
            <a:ext cx="1952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Listeners ed eventi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3676650" y="2200275"/>
            <a:ext cx="156448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3.505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3676650" y="2781300"/>
            <a:ext cx="1564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ELOC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5736431" y="2200275"/>
            <a:ext cx="156448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1,25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736431" y="2781300"/>
            <a:ext cx="1564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COMPLEXITY (CC)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7796212" y="2200275"/>
            <a:ext cx="156448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2,27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7796212" y="2781300"/>
            <a:ext cx="1564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COUPLING (CBO)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9855993" y="2200275"/>
            <a:ext cx="156448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0,51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9855993" y="2781300"/>
            <a:ext cx="1564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POLLUTION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3501728" y="3593455"/>
            <a:ext cx="412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Metriche di Martin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7643812" y="3593455"/>
            <a:ext cx="412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Struttura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3524250" y="3986510"/>
            <a:ext cx="3929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Distance (|D|) 0.37 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7643812" y="3986510"/>
            <a:ext cx="3929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Tangled 0%</a:t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3524250" y="4234160"/>
            <a:ext cx="1333053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2" descr="Allora tra use case diagrame  class diagram aggiungi un punti con State Machine Diagram. inoltre a detsra nell'esempio aggiungi una life vertocale tra validator e databse con Service. quindi il flusso diventa utente, view, validatr, service, D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561975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428750"/>
            <a:ext cx="561975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3"/>
          <p:cNvSpPr txBox="1"/>
          <p:nvPr/>
        </p:nvSpPr>
        <p:spPr>
          <a:xfrm>
            <a:off x="381000" y="471487"/>
            <a:ext cx="25453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Implementazione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390525" y="3948112"/>
            <a:ext cx="5600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19125" y="1666875"/>
            <a:ext cx="5400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FEATURES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200775" y="3948112"/>
            <a:ext cx="5600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6429375" y="1666875"/>
            <a:ext cx="5400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REFACTORING</a:t>
            </a:r>
            <a:endParaRPr/>
          </a:p>
        </p:txBody>
      </p:sp>
      <p:pic>
        <p:nvPicPr>
          <p:cNvPr id="343" name="Google Shape;34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047875"/>
            <a:ext cx="514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2524125"/>
            <a:ext cx="514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" y="3000375"/>
            <a:ext cx="514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" y="3476625"/>
            <a:ext cx="514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" y="3952875"/>
            <a:ext cx="5143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 txBox="1"/>
          <p:nvPr/>
        </p:nvSpPr>
        <p:spPr>
          <a:xfrm>
            <a:off x="6753225" y="22002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6810375" y="2200275"/>
            <a:ext cx="47625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Extract Class: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Separazione logica DB dalle Viste (creazione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Services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).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6753225" y="28575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6810375" y="2857500"/>
            <a:ext cx="47625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Validazione dati centralizzata</a:t>
            </a:r>
            <a:r>
              <a:rPr lang="en-US" sz="135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b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Classe unica DataValidator per input e sicurezza.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6753225" y="35242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6810375" y="3524250"/>
            <a:ext cx="47625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Divisione parte Java e CSS:</a:t>
            </a:r>
            <a:b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Gestione degli stili delegata a CSS esterni.</a:t>
            </a:r>
            <a:endParaRPr>
              <a:solidFill>
                <a:srgbClr val="CBD5E1"/>
              </a:solidFill>
            </a:endParaRPr>
          </a:p>
        </p:txBody>
      </p:sp>
      <p:pic>
        <p:nvPicPr>
          <p:cNvPr id="354" name="Google Shape;354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34025" y="2143125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34025" y="2619375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34025" y="3095625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34025" y="3571875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553075" y="4048125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36829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428750"/>
            <a:ext cx="7556599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5934075"/>
            <a:ext cx="1110994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90279" y="5934075"/>
            <a:ext cx="1296148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2486025"/>
            <a:ext cx="7080349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2952750"/>
            <a:ext cx="7080349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3419475"/>
            <a:ext cx="7080349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3886200"/>
            <a:ext cx="7080349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2525" y="4352925"/>
            <a:ext cx="7080349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381000" y="471487"/>
            <a:ext cx="281035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Testing &amp; Coverage</a:t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390526" y="3948112"/>
            <a:ext cx="3663848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619125" y="1666875"/>
            <a:ext cx="336698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STRATEGIA WHITE BOX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19125" y="2219325"/>
            <a:ext cx="3206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JUnit 5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per Unit Testing.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19125" y="2762250"/>
            <a:ext cx="3206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Focus su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Business Logic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19125" y="3324225"/>
            <a:ext cx="3206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Esclusione consapevole delle viste Vaadin e del Database diretto.</a:t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4263924" y="3948112"/>
            <a:ext cx="7537551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4492525" y="1666875"/>
            <a:ext cx="743436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COVERAGE REPORT (ECLEMMA)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4492525" y="2238375"/>
            <a:ext cx="70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Auto Model 100%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492525" y="2705100"/>
            <a:ext cx="70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TipoAuto (Enum) 96.4%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4492525" y="3171825"/>
            <a:ext cx="70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QRCode Gen</a:t>
            </a:r>
            <a:r>
              <a:rPr lang="en-US" sz="105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erator </a:t>
            </a: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85.7%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4492525" y="3638550"/>
            <a:ext cx="70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DataValidator (Branch) 75%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4492525" y="4105275"/>
            <a:ext cx="70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Prenotazione 68.2%</a:t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4492525" y="2486025"/>
            <a:ext cx="6579096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4492525" y="2952750"/>
            <a:ext cx="634231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4492525" y="3419475"/>
            <a:ext cx="5638353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4492525" y="3886200"/>
            <a:ext cx="4934396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4492525" y="4352925"/>
            <a:ext cx="4487019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5"/>
          <p:cNvSpPr/>
          <p:nvPr/>
        </p:nvSpPr>
        <p:spPr>
          <a:xfrm>
            <a:off x="390525" y="3424237"/>
            <a:ext cx="114109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 txBox="1"/>
          <p:nvPr/>
        </p:nvSpPr>
        <p:spPr>
          <a:xfrm>
            <a:off x="3595687" y="2262187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</a:t>
            </a:r>
            <a:endParaRPr/>
          </a:p>
        </p:txBody>
      </p:sp>
      <p:pic>
        <p:nvPicPr>
          <p:cNvPr id="399" name="Google Shape;39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5300" y="35004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5"/>
          <p:cNvSpPr txBox="1"/>
          <p:nvPr/>
        </p:nvSpPr>
        <p:spPr>
          <a:xfrm>
            <a:off x="4252912" y="4405312"/>
            <a:ext cx="866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Esplorazione</a:t>
            </a:r>
            <a:endParaRPr/>
          </a:p>
        </p:txBody>
      </p:sp>
      <p:pic>
        <p:nvPicPr>
          <p:cNvPr id="401" name="Google Shape;40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7387" y="35004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5"/>
          <p:cNvSpPr txBox="1"/>
          <p:nvPr/>
        </p:nvSpPr>
        <p:spPr>
          <a:xfrm>
            <a:off x="5691187" y="4405312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Prenotazione</a:t>
            </a:r>
            <a:endParaRPr/>
          </a:p>
        </p:txBody>
      </p:sp>
      <p:pic>
        <p:nvPicPr>
          <p:cNvPr id="403" name="Google Shape;40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77087" y="35004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5"/>
          <p:cNvSpPr txBox="1"/>
          <p:nvPr/>
        </p:nvSpPr>
        <p:spPr>
          <a:xfrm>
            <a:off x="7334250" y="4405312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Admin</a:t>
            </a:r>
            <a:endParaRPr/>
          </a:p>
        </p:txBody>
      </p:sp>
      <p:pic>
        <p:nvPicPr>
          <p:cNvPr id="405" name="Google Shape;40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4850" y="37290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15037" y="372903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67587" y="3729037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Outfit</vt:lpstr>
      <vt:lpstr>Outfit SemiBold</vt:lpstr>
      <vt:lpstr>Space Grotesk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Davide Mascheretti</dc:creator>
  <cp:lastModifiedBy>DAVIDE MASCHERETTI</cp:lastModifiedBy>
  <cp:revision>1</cp:revision>
  <dcterms:modified xsi:type="dcterms:W3CDTF">2026-02-04T15:34:45Z</dcterms:modified>
</cp:coreProperties>
</file>